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name and one sentence: GestPro is the application that puts rent collection and building operations under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audience which of the four problems hurts most. Most managers recognise all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is real. Point at expected vs collected and arrears ageing.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685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BOUQUET INNOVATION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and rental management, finally under control.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8803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Rents, receipts, tenants, maintenance and reporting in one secure web application. Built for landlords, property managers, agencies and residences.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5948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presentation  |  Douala, Cameroon  |  support@bouquet-innovation.net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800600" y="822960"/>
            <a:ext cx="402336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9" name="Image 0" descr="/home/user/residenceflow/marketing/deck/assets/adm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822960"/>
            <a:ext cx="4023360" cy="2514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315200" y="2240280"/>
            <a:ext cx="1294201" cy="2651760"/>
          </a:xfrm>
          <a:prstGeom prst="roundRect">
            <a:avLst>
              <a:gd name="adj" fmla="val 12718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3600000">
              <a:srgbClr val="000000">
                <a:alpha val="35000"/>
              </a:srgbClr>
            </a:outerShdw>
          </a:effectLst>
        </p:spPr>
      </p:sp>
      <p:pic>
        <p:nvPicPr>
          <p:cNvPr id="11" name="Image 1" descr="/home/user/residenceflow/marketing/deck/assets/admin-dashboard-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08" y="2304288"/>
            <a:ext cx="1166185" cy="25237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rentals on paper and spreadsheets costs you money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four problems come up in almost every conversation we have with owners and managers.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885950" cy="3108960"/>
          </a:xfrm>
          <a:prstGeom prst="roundRect">
            <a:avLst>
              <a:gd name="adj" fmla="val 387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423160"/>
            <a:ext cx="1428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slips through the cracks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108960"/>
            <a:ext cx="14287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tenants are noticed weeks later. Nobody knows exactly who owes what, since when.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71750" y="1417320"/>
            <a:ext cx="1885950" cy="3108960"/>
          </a:xfrm>
          <a:prstGeom prst="roundRect">
            <a:avLst>
              <a:gd name="adj" fmla="val 387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00350" y="1691640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510" y="18288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00350" y="2423160"/>
            <a:ext cx="1428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receipts, zero traceability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2800350" y="3108960"/>
            <a:ext cx="14287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Carbon-copy booklets get lost, altered or duplicated. Cash is collected but never fully reconciled.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86300" y="1417320"/>
            <a:ext cx="1885950" cy="3108960"/>
          </a:xfrm>
          <a:prstGeom prst="roundRect">
            <a:avLst>
              <a:gd name="adj" fmla="val 387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914900" y="1691640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8288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914900" y="2423160"/>
            <a:ext cx="1428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for the owner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4914900" y="3108960"/>
            <a:ext cx="14287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Occupancy, collections and expenses live in someone's head. Monthly statements take days to assemble.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800850" y="1417320"/>
            <a:ext cx="1885950" cy="3108960"/>
          </a:xfrm>
          <a:prstGeom prst="roundRect">
            <a:avLst>
              <a:gd name="adj" fmla="val 387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029450" y="1691640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6610" y="18288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29450" y="2423160"/>
            <a:ext cx="1428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and lost trust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7029450" y="3108960"/>
            <a:ext cx="14287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says they paid, cashier says they did not. Deposits are returned on guesswork.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 |  Bouquet Innovation</a:t>
            </a:r>
            <a:endParaRPr lang="en-US" sz="850" dirty="0"/>
          </a:p>
        </p:txBody>
      </p:sp>
      <p:sp>
        <p:nvSpPr>
          <p:cNvPr id="25" name="Text 19"/>
          <p:cNvSpPr txBox="1"/>
          <p:nvPr/>
        </p:nvSpPr>
        <p:spPr>
          <a:xfrm>
            <a:off x="813816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gives you one source of truth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building, tenant, invoice, payment and repair in a single bilingual application, accessible from any browser.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26280" y="1325880"/>
            <a:ext cx="4160520" cy="2600325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5" name="Image 0" descr="/home/user/residenceflow/marketing/deck/assets/adm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25880"/>
            <a:ext cx="4160520" cy="26003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26280" y="3999357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dashboard, live figures in FCFA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57200" y="138988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everything at a glance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17556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Occupancy, expected vs collected rent, arrears ageing, open work orders and visitors on site on one dashboard.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48716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with confidence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28529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monthly invoices, numbered receipts that cannot be altered, and reminders that go out on time.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358444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05840" y="3566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whole operation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395020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rental applications to maintenance, concierge desk and owner statements, with a role for every person involved.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 |  Bouquet Innovation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813816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portfolio, structured the way it really is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Buildings, blocks, floors and units of every kind, with the people and contracts attached to them.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Apartments, studios, shops, offices, houses and rooms, each with its own status and rent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files with contacts, documents and complete history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Leases with rent schedules, security deposits and renewal alerts at 30, 60 and 90 days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applications and screening before a key is handed over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any building link to preview it instantly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114800" y="1280160"/>
            <a:ext cx="4572000" cy="28575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user/residenceflow/marketing/deck/assets/admin-buildin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280160"/>
            <a:ext cx="4572000" cy="28575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92240" y="42108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list with hover preview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611880" y="3200400"/>
            <a:ext cx="2286000" cy="14287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9" name="Image 1" descr="/home/user/residenceflow/marketing/deck/assets/admin-tenant-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3200400"/>
            <a:ext cx="2286000" cy="142875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611880" y="468401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file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 |  Bouquet Innovation</a:t>
            </a:r>
            <a:endParaRPr lang="en-US" sz="850" dirty="0"/>
          </a:p>
        </p:txBody>
      </p:sp>
      <p:sp>
        <p:nvSpPr>
          <p:cNvPr id="12" name="Text 8"/>
          <p:cNvSpPr txBox="1"/>
          <p:nvPr/>
        </p:nvSpPr>
        <p:spPr>
          <a:xfrm>
            <a:off x="813816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collection without the arguments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go out by themselves. Every franc that comes in leaves a trace.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monthly invoices per lease, with utilities and late fees when applicable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mobile money, bank transfer or cheque, recorded by cashiers in seconds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sequentially numbered receipts with a verification code, printable as PDF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Reversals only with approval; payment plans and deposit deductions documented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reconciliation, expenses, purchase orders and recurring charges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069080" y="1234440"/>
            <a:ext cx="4206240" cy="26289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user/residenceflow/marketing/deck/assets/admin-invo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1234440"/>
            <a:ext cx="4206240" cy="2628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069080" y="39364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register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897880" y="3108960"/>
            <a:ext cx="2697480" cy="1657023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9" name="Image 1" descr="/home/user/residenceflow/marketing/deck/assets/admin-receipt-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3108960"/>
            <a:ext cx="2697480" cy="165702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897880" y="4811703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receipt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 |  Bouquet Innovation</a:t>
            </a:r>
            <a:endParaRPr lang="en-US" sz="850" dirty="0"/>
          </a:p>
        </p:txBody>
      </p:sp>
      <p:sp>
        <p:nvSpPr>
          <p:cNvPr id="12" name="Text 8"/>
          <p:cNvSpPr txBox="1"/>
          <p:nvPr/>
        </p:nvSpPr>
        <p:spPr>
          <a:xfrm>
            <a:off x="813816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Arrears are visible before they become losses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owes, how much, for how long, and what was done about it.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Arrears ageing per tenant and per building, filtered in one click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notices and email notifications, with the follow-up date kept on file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fees applied by rule, not by memory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plans for tenants who need time, tracked to the last instalment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deposits held, deducted and refunded with a clear statement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206240" y="1280160"/>
            <a:ext cx="4480560" cy="2154115"/>
          </a:xfrm>
          <a:prstGeom prst="roundRect">
            <a:avLst>
              <a:gd name="adj" fmla="val 212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user/residenceflow/marketing/deck/assets/admin-arrears-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280160"/>
            <a:ext cx="4480560" cy="215411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206240" y="3498283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Arrears ageing report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206240" y="3840480"/>
            <a:ext cx="101727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206240" y="3931920"/>
            <a:ext cx="10172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1-30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4343400"/>
            <a:ext cx="1017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60670" y="3840480"/>
            <a:ext cx="101727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60670" y="3931920"/>
            <a:ext cx="10172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31-60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360670" y="4343400"/>
            <a:ext cx="1017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515100" y="3840480"/>
            <a:ext cx="1017270" cy="868680"/>
          </a:xfrm>
          <a:prstGeom prst="roundRect">
            <a:avLst>
              <a:gd name="adj" fmla="val 8421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15100" y="3931920"/>
            <a:ext cx="10172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61-90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515100" y="4343400"/>
            <a:ext cx="1017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669530" y="3840480"/>
            <a:ext cx="1017270" cy="868680"/>
          </a:xfrm>
          <a:prstGeom prst="roundRect">
            <a:avLst>
              <a:gd name="adj" fmla="val 8421"/>
            </a:avLst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669530" y="3931920"/>
            <a:ext cx="10172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7669530" y="4343400"/>
            <a:ext cx="1017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 |  Bouquet Innovation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813816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Maintenance, front desk and tenant portal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life of a building, handled by the right people.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21280" cy="163830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5" name="Image 0" descr="/home/user/residenceflow/marketing/deck/assets/admin-mainten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2621280" cy="16383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083052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421380"/>
            <a:ext cx="262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 with priority and category, assigned to in-house technicians or outside vendors, followed until closure.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61360" y="1280160"/>
            <a:ext cx="2621280" cy="163830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9" name="Image 1" descr="/home/user/residenceflow/marketing/deck/assets/concierge-visito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60" y="1280160"/>
            <a:ext cx="2621280" cy="16383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261360" y="3083052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desk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3261360" y="3421380"/>
            <a:ext cx="262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log, parcels awaiting collection, incidents, shift logs and key tracking for security staff.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65520" y="1280160"/>
            <a:ext cx="2621280" cy="163830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/home/user/residenceflow/marketing/deck/assets/tenant-portal-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520" y="1280160"/>
            <a:ext cx="2621280" cy="16383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065520" y="3083052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portal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065520" y="3421380"/>
            <a:ext cx="262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 see their invoices and payment history, download receipts and submit requests themselves.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included: announcements to residents, document library with expiry dates, utilities and meter readings.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 |  Bouquet Innovation</a:t>
            </a:r>
            <a:endParaRPr lang="en-US" sz="850" dirty="0"/>
          </a:p>
        </p:txBody>
      </p:sp>
      <p:sp>
        <p:nvSpPr>
          <p:cNvPr id="18" name="Text 13"/>
          <p:cNvSpPr txBox="1"/>
          <p:nvPr/>
        </p:nvSpPr>
        <p:spPr>
          <a:xfrm>
            <a:off x="813816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your building in 3D, from any device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draws each building from its own data: floors, blocks, units and their status colours. Click a unit to see its rooms.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834640" cy="17716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5" name="Image 0" descr="/home/user/residenceflow/marketing/deck/assets/admin-building-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2834640" cy="17716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15239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3D view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474720" y="1325880"/>
            <a:ext cx="2834640" cy="17716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8" name="Image 1" descr="/home/user/residenceflow/marketing/deck/assets/admin-building-3d-un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325880"/>
            <a:ext cx="2834640" cy="177165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474720" y="315239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detail with rooms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7086600" y="1280160"/>
            <a:ext cx="1611099" cy="3337560"/>
          </a:xfrm>
          <a:prstGeom prst="roundRect">
            <a:avLst>
              <a:gd name="adj" fmla="val 10216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3600000">
              <a:srgbClr val="000000">
                <a:alpha val="35000"/>
              </a:srgbClr>
            </a:outerShdw>
          </a:effectLst>
        </p:spPr>
      </p:sp>
      <p:pic>
        <p:nvPicPr>
          <p:cNvPr id="11" name="Image 2" descr="/home/user/residenceflow/marketing/deck/assets/admin-building-3d-mob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1344168"/>
            <a:ext cx="1483083" cy="32095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086600" y="4690872"/>
            <a:ext cx="16110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mobile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347472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Occupied, vacant and under-maintenance units at a glance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and surface of each unit, rent and current tenant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on phone, tablet and PC, light and dark mode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and iOS apps being released, built on the same secure platform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 |  Bouquet Innovation</a:t>
            </a:r>
            <a:endParaRPr lang="en-US" sz="850" dirty="0"/>
          </a:p>
        </p:txBody>
      </p:sp>
      <p:sp>
        <p:nvSpPr>
          <p:cNvPr id="15" name="Text 10"/>
          <p:cNvSpPr txBox="1"/>
          <p:nvPr/>
        </p:nvSpPr>
        <p:spPr>
          <a:xfrm>
            <a:off x="813816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trust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figures are protected, and every action can be traced back to a person.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44168"/>
            <a:ext cx="402336" cy="402336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44752"/>
            <a:ext cx="201168" cy="2011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87552" y="132588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authentication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987552" y="1627632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password rules, two-factor authentication (TOTP) and account lockout after repeated failures.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46120" y="1344168"/>
            <a:ext cx="402336" cy="402336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144475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776472" y="132588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sessions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3776472" y="1627632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 and re-authentication before sensitive actions such as reversals or role changes.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57200" y="2441448"/>
            <a:ext cx="402336" cy="402336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2542032"/>
            <a:ext cx="201168" cy="20116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87552" y="242316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987552" y="2724912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creation, change, payment and login is logged with who, when and from where.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3246120" y="2441448"/>
            <a:ext cx="402336" cy="402336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2542032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776472" y="242316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sign-up only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3776472" y="2724912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enterprise space is opened only after approval by Bouquet Innovation, with a one-time code valid 20 minutes.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57200" y="3538728"/>
            <a:ext cx="402336" cy="402336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" y="3639312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87552" y="352044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jobs and backups</a:t>
            </a:r>
            <a:endParaRPr lang="en-US" sz="1250" dirty="0"/>
          </a:p>
        </p:txBody>
      </p:sp>
      <p:sp>
        <p:nvSpPr>
          <p:cNvPr id="23" name="Text 16"/>
          <p:cNvSpPr txBox="1"/>
          <p:nvPr/>
        </p:nvSpPr>
        <p:spPr>
          <a:xfrm>
            <a:off x="987552" y="3822192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daily processing, regular backups and a tested restore procedure.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3246120" y="3538728"/>
            <a:ext cx="402336" cy="402336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6704" y="3639312"/>
            <a:ext cx="201168" cy="20116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776472" y="3520440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hosted</a:t>
            </a:r>
            <a:endParaRPr lang="en-US" sz="1250" dirty="0"/>
          </a:p>
        </p:txBody>
      </p:sp>
      <p:sp>
        <p:nvSpPr>
          <p:cNvPr id="27" name="Text 19"/>
          <p:cNvSpPr txBox="1"/>
          <p:nvPr/>
        </p:nvSpPr>
        <p:spPr>
          <a:xfrm>
            <a:off x="3776472" y="3822192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Vercel with managed PostgreSQL. Nothing to install, nothing to maintain on your side.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6080760" y="1371600"/>
            <a:ext cx="2606040" cy="1628775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29" name="Image 6" descr="/home/user/residenceflow/marketing/deck/assets/admin-admin-audit-log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60" y="1371600"/>
            <a:ext cx="2606040" cy="1628775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080760" y="3064383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950" dirty="0"/>
          </a:p>
        </p:txBody>
      </p:sp>
      <p:sp>
        <p:nvSpPr>
          <p:cNvPr id="31" name="Shape 22"/>
          <p:cNvSpPr/>
          <p:nvPr/>
        </p:nvSpPr>
        <p:spPr>
          <a:xfrm>
            <a:off x="6080760" y="3154680"/>
            <a:ext cx="2604211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32" name="Image 7" descr="/home/user/residenceflow/marketing/deck/assets/public-logi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60" y="3154680"/>
            <a:ext cx="2604211" cy="1627632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 |  Bouquet Innovation</a:t>
            </a:r>
            <a:endParaRPr lang="en-US" sz="850" dirty="0"/>
          </a:p>
        </p:txBody>
      </p:sp>
      <p:sp>
        <p:nvSpPr>
          <p:cNvPr id="34" name="Text 24"/>
          <p:cNvSpPr txBox="1"/>
          <p:nvPr/>
        </p:nvSpPr>
        <p:spPr>
          <a:xfrm>
            <a:off x="813816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space per company, a role for every person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enterprise works in its own isolated environment. Thirteen roles with fine-grained permissions decide who sees and does what.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167128" y="141732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67128" y="1417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admin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77056" y="141732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77056" y="1417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manager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892808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892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167128" y="1892808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67128" y="1892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77056" y="1892808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77056" y="1892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/ Security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368296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36829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manager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67128" y="2368296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167128" y="236829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77056" y="2368296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77056" y="236829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843784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284378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(read-only)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167128" y="2843784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167128" y="284378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77056" y="2843784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77056" y="284378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portal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319272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33192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8404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see their own buildings only. Cashiers record payments but cannot reverse them. Custom roles can be cloned from any system role.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07137" y="1280160"/>
            <a:ext cx="2461846" cy="3200400"/>
          </a:xfrm>
          <a:prstGeom prst="roundRect">
            <a:avLst>
              <a:gd name="adj" fmla="val 18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32" name="Image 0" descr="/home/user/residenceflow/marketing/deck/assets/admin-admin-roles-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7137" y="1280160"/>
            <a:ext cx="2461846" cy="3200400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6107137" y="4544568"/>
            <a:ext cx="24618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permissions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 |  Bouquet Innovation</a:t>
            </a:r>
            <a:endParaRPr lang="en-US" sz="850" dirty="0"/>
          </a:p>
        </p:txBody>
      </p:sp>
      <p:sp>
        <p:nvSpPr>
          <p:cNvPr id="35" name="Text 32"/>
          <p:cNvSpPr txBox="1"/>
          <p:nvPr/>
        </p:nvSpPr>
        <p:spPr>
          <a:xfrm>
            <a:off x="813816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your accountant and your owners will actually use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and financial reports, exportable to CSV, plus dashboards that update themselves.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057400" cy="3200400"/>
          </a:xfrm>
          <a:prstGeom prst="roundRect">
            <a:avLst>
              <a:gd name="adj" fmla="val 355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1691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and vacancy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expirations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Move-ins and move-outs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volume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and incidents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97480" y="1325880"/>
            <a:ext cx="2057400" cy="3200400"/>
          </a:xfrm>
          <a:prstGeom prst="roundRect">
            <a:avLst>
              <a:gd name="adj" fmla="val 355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80360" y="1463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880360" y="1828800"/>
            <a:ext cx="1691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and collection rate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Arrears ageing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building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by category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liability and owner statement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1280160"/>
            <a:ext cx="3591452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11" name="Image 0" descr="/home/user/residenceflow/marketing/deck/assets/admin-reports-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280160"/>
            <a:ext cx="3591452" cy="324612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029200" y="4590288"/>
            <a:ext cx="35914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catalogue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 |  Bouquet Innovation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call to first receipt in days, not months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stay with you at every step.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225296" y="1691640"/>
            <a:ext cx="6693408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1417320"/>
            <a:ext cx="548640" cy="54864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536192" cy="21488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33172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access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834640"/>
            <a:ext cx="1261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about your portfolio. We confirm the fit and the package.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24328" y="1417320"/>
            <a:ext cx="548640" cy="54864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24328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30552" y="2194560"/>
            <a:ext cx="1536192" cy="21488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67712" y="233172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267712" y="2834640"/>
            <a:ext cx="1261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Bouquet Innovation approves your enterprise and sends a one-time sign-up code.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0" y="1417320"/>
            <a:ext cx="548640" cy="54864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976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803904" y="2194560"/>
            <a:ext cx="1536192" cy="21488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41064" y="233172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in minutes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941064" y="2834640"/>
            <a:ext cx="1261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company, buildings, units and users. Import tenants and leases.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71032" y="1417320"/>
            <a:ext cx="548640" cy="54864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71032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77256" y="2194560"/>
            <a:ext cx="1536192" cy="21488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14416" y="233172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614416" y="2834640"/>
            <a:ext cx="1261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sessions for managers, cashiers and front-desk staff, in French or English.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44384" y="1417320"/>
            <a:ext cx="548640" cy="54864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44384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150608" y="2194560"/>
            <a:ext cx="1536192" cy="214884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87768" y="233172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support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7287768" y="2834640"/>
            <a:ext cx="1261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support, regular updates and backups included.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 |  Bouquet Innovation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813816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GestPro is for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building to a managed portfolio.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749040" cy="234315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3600000">
              <a:srgbClr val="000000">
                <a:alpha val="25000"/>
              </a:srgbClr>
            </a:outerShdw>
          </a:effectLst>
        </p:spPr>
      </p:sp>
      <p:pic>
        <p:nvPicPr>
          <p:cNvPr id="5" name="Image 0" descr="/home/user/residenceflow/marketing/deck/assets/owner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749040" cy="23431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77875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view (read-only)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063240" y="2651760"/>
            <a:ext cx="1040683" cy="2103120"/>
          </a:xfrm>
          <a:prstGeom prst="roundRect">
            <a:avLst>
              <a:gd name="adj" fmla="val 15816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3600000">
              <a:srgbClr val="000000">
                <a:alpha val="35000"/>
              </a:srgbClr>
            </a:outerShdw>
          </a:effectLst>
        </p:spPr>
      </p:sp>
      <p:pic>
        <p:nvPicPr>
          <p:cNvPr id="8" name="Image 1" descr="/home/user/residenceflow/marketing/deck/assets/admin-payments-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2715768"/>
            <a:ext cx="912667" cy="197510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663440" y="1325880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46320" y="1508760"/>
            <a:ext cx="411480" cy="41148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190" y="1611630"/>
            <a:ext cx="205740" cy="2057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49240" y="15087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landlords</a:t>
            </a:r>
            <a:endParaRPr lang="en-US" sz="1250" dirty="0"/>
          </a:p>
        </p:txBody>
      </p:sp>
      <p:sp>
        <p:nvSpPr>
          <p:cNvPr id="13" name="Text 8"/>
          <p:cNvSpPr txBox="1"/>
          <p:nvPr/>
        </p:nvSpPr>
        <p:spPr>
          <a:xfrm>
            <a:off x="4846320" y="203911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track of tenants and rent without a full-time manager, from your phone.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858000" y="1325880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040880" y="1508760"/>
            <a:ext cx="411480" cy="41148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0" y="1611630"/>
            <a:ext cx="205740" cy="2057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543800" y="15087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managers</a:t>
            </a:r>
            <a:endParaRPr lang="en-US" sz="1250" dirty="0"/>
          </a:p>
        </p:txBody>
      </p:sp>
      <p:sp>
        <p:nvSpPr>
          <p:cNvPr id="18" name="Text 12"/>
          <p:cNvSpPr txBox="1"/>
          <p:nvPr/>
        </p:nvSpPr>
        <p:spPr>
          <a:xfrm>
            <a:off x="7040880" y="203911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several owners' buildings with clear statements and audited cash handling.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663440" y="3108960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846320" y="3291840"/>
            <a:ext cx="411480" cy="41148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9190" y="3394710"/>
            <a:ext cx="205740" cy="2057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349240" y="32918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Real-estate agencies</a:t>
            </a:r>
            <a:endParaRPr lang="en-US" sz="1250" dirty="0"/>
          </a:p>
        </p:txBody>
      </p:sp>
      <p:sp>
        <p:nvSpPr>
          <p:cNvPr id="23" name="Text 16"/>
          <p:cNvSpPr txBox="1"/>
          <p:nvPr/>
        </p:nvSpPr>
        <p:spPr>
          <a:xfrm>
            <a:off x="4846320" y="382219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applications, leases, collections and reporting for a growing client base.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858000" y="3108960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7040880" y="3291840"/>
            <a:ext cx="411480" cy="41148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0" y="3394710"/>
            <a:ext cx="205740" cy="20574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543800" y="32918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Residences and compounds</a:t>
            </a:r>
            <a:endParaRPr lang="en-US" sz="1250" dirty="0"/>
          </a:p>
        </p:txBody>
      </p:sp>
      <p:sp>
        <p:nvSpPr>
          <p:cNvPr id="28" name="Text 20"/>
          <p:cNvSpPr txBox="1"/>
          <p:nvPr/>
        </p:nvSpPr>
        <p:spPr>
          <a:xfrm>
            <a:off x="7040880" y="382219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desk, visitors, parcels, incidents and maintenance alongside rent management.</a:t>
            </a:r>
            <a:endParaRPr lang="en-US" sz="1050" dirty="0"/>
          </a:p>
        </p:txBody>
      </p:sp>
      <p:sp>
        <p:nvSpPr>
          <p:cNvPr id="29" name="Text 21"/>
          <p:cNvSpPr txBox="1"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 |  Bouquet Innovation</a:t>
            </a:r>
            <a:endParaRPr lang="en-US" sz="850" dirty="0"/>
          </a:p>
        </p:txBody>
      </p:sp>
      <p:sp>
        <p:nvSpPr>
          <p:cNvPr id="30" name="Text 22"/>
          <p:cNvSpPr txBox="1"/>
          <p:nvPr/>
        </p:nvSpPr>
        <p:spPr>
          <a:xfrm>
            <a:off x="813816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teams choose GestPro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4305A"/>
          </a:solidFill>
          <a:ln w="12700">
            <a:solidFill>
              <a:srgbClr val="1430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801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39446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74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and English, switchable per user.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10515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4305A"/>
          </a:solidFill>
          <a:ln w="12700">
            <a:solidFill>
              <a:srgbClr val="14305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0" y="12801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39446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6908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XAF native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1874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 amounts, Africa/Douala time, mobile money and cash built in.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35040" y="10515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4305A"/>
          </a:solidFill>
          <a:ln w="12700">
            <a:solidFill>
              <a:srgbClr val="14305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63640" y="12801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139446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phone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1874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app today, Android and iOS apps rolling out.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28346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4305A"/>
          </a:solidFill>
          <a:ln w="12700">
            <a:solidFill>
              <a:srgbClr val="14305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1775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logged. Receipts that cannot be altered.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246120" y="28346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4305A"/>
          </a:solidFill>
          <a:ln w="12700">
            <a:solidFill>
              <a:srgbClr val="14305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74720" y="30632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020" y="317754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6908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 any browser, backed up daily.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035040" y="283464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4305A"/>
          </a:solidFill>
          <a:ln w="12700">
            <a:solidFill>
              <a:srgbClr val="14305A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63640" y="30632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7940" y="317754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5800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security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6364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Two-factor login, lockout, session control, approved sign-up.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 |  Bouquet Innovation</a:t>
            </a:r>
            <a:endParaRPr lang="en-US" sz="850" dirty="0"/>
          </a:p>
        </p:txBody>
      </p:sp>
      <p:sp>
        <p:nvSpPr>
          <p:cNvPr id="34" name="Text 26"/>
          <p:cNvSpPr txBox="1"/>
          <p:nvPr/>
        </p:nvSpPr>
        <p:spPr>
          <a:xfrm>
            <a:off x="813816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packages, priced on request according to the size of your portfolio.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90800" cy="3429000"/>
          </a:xfrm>
          <a:prstGeom prst="roundRect">
            <a:avLst>
              <a:gd name="adj" fmla="val 28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landlords and small portfolios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40280"/>
            <a:ext cx="2133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Buildings, units, tenants and leases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invoices and numbered receipts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Payments: cash, mobile money, transfer, cheque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Arrears tracking and reminders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dashboard and reports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21336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160520"/>
            <a:ext cx="213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on request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76600" y="1280160"/>
            <a:ext cx="2590800" cy="3429000"/>
          </a:xfrm>
          <a:prstGeom prst="roundRect">
            <a:avLst>
              <a:gd name="adj" fmla="val 282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05200" y="1463040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05200" y="1874520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managers and agencies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505200" y="2240280"/>
            <a:ext cx="2133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orders, technicians and vendors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module and tenant portal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Deposits, payment plans, late fees, utilities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Expenses, purchase orders, reconciliation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read-only access and 3D building view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for your team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05200" y="4160520"/>
            <a:ext cx="2133600" cy="34747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05200" y="4160520"/>
            <a:ext cx="213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on request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96000" y="1280160"/>
            <a:ext cx="2590800" cy="3429000"/>
          </a:xfrm>
          <a:prstGeom prst="roundRect">
            <a:avLst>
              <a:gd name="adj" fmla="val 28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24600" y="1463040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324600" y="1874520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Residences, groups and multi-site operators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324600" y="2240280"/>
            <a:ext cx="2133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Business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 roles and custom roles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Two-factor authentication enforced, audit exports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Multi-enterprise organisation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 and onboarding assistance</a:t>
            </a:r>
            <a:endParaRPr lang="en-US" sz="950" dirty="0"/>
          </a:p>
          <a:p>
            <a:pPr marL="177800" indent="-177800">
              <a:lnSpc>
                <a:spcPct val="105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 when released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24600" y="4160520"/>
            <a:ext cx="21336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24600" y="4160520"/>
            <a:ext cx="213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on request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GestPro  |  Bouquet Innovation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put your portfolio in order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73736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7190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30-minute demo on your own buildings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3134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your sign-up code once approved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9077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with your team in days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7033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support@bouquet-innovation.net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114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Bouquet Innovation  |  Douala, Cameroon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5491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640080"/>
            <a:ext cx="1843491" cy="3840480"/>
          </a:xfrm>
          <a:prstGeom prst="roundRect">
            <a:avLst>
              <a:gd name="adj" fmla="val 8928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3600000">
              <a:srgbClr val="000000">
                <a:alpha val="35000"/>
              </a:srgbClr>
            </a:outerShdw>
          </a:effectLst>
        </p:spPr>
      </p:sp>
      <p:pic>
        <p:nvPicPr>
          <p:cNvPr id="16" name="Image 0" descr="/home/user/residenceflow/marketing/deck/assets/public-login-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48" y="704088"/>
            <a:ext cx="1715475" cy="371246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406640" y="1188720"/>
            <a:ext cx="1716732" cy="3566160"/>
          </a:xfrm>
          <a:prstGeom prst="roundRect">
            <a:avLst>
              <a:gd name="adj" fmla="val 9588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01600" dist="38100" dir="3600000">
              <a:srgbClr val="000000">
                <a:alpha val="35000"/>
              </a:srgbClr>
            </a:outerShdw>
          </a:effectLst>
        </p:spPr>
      </p:sp>
      <p:pic>
        <p:nvPicPr>
          <p:cNvPr id="18" name="Image 1" descr="/home/user/residenceflow/marketing/deck/assets/tenant-portal-billing-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48" y="1252728"/>
            <a:ext cx="1588716" cy="34381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Bouquet Innovation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GestPro</dc:title>
  <dc:subject>PptxGenJS Presentation</dc:subject>
  <dc:creator>Bouquet Innovation</dc:creator>
  <cp:lastModifiedBy>Bouquet Innovation</cp:lastModifiedBy>
  <cp:revision>1</cp:revision>
  <dcterms:created xsi:type="dcterms:W3CDTF">2026-10-01T17:39:43Z</dcterms:created>
  <dcterms:modified xsi:type="dcterms:W3CDTF">2026-10-01T17:39:43Z</dcterms:modified>
</cp:coreProperties>
</file>